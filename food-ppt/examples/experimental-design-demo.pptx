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exists to show food-ppt's paper-style layouts: an editable experimental-design flow, results slides (figure/table + key findings), and an executive summary. All numbers are synthetic placeholders.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 the audience with the design before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Rendered as native PowerPoint shapes — every box and arrow is individually movable and editable. Built from food-figure's experimental-flow blueprint, theme-matched. Synthetic design for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result slide with a scientific-style native table plus a Key findings panel. Numbers are synthetic placeholders.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a figure isn't supplied the builder shows a placeholder; in normal use figure_placer supplies a theme-matched food-figure plot. Synthetic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Required closing summary: headline results, meaning, and the key caveat (here, that the data are synthetic).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generated by the food-ppt skill as a layout demonstration; synthetic data. Replace with the venue's required AI statement for real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8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000" b="1">
                <a:solidFill>
                  <a:srgbClr val="155E63"/>
                </a:solidFill>
                <a:latin typeface="Calibri"/>
              </a:rPr>
              <a:t>HPP and blueberry quality (illustrative)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10262A"/>
                </a:solidFill>
                <a:latin typeface="Calibri"/>
              </a:rPr>
              <a:t>Demonstrates the flow, result, and executive-summary layouts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51636A"/>
                </a:solidFill>
                <a:latin typeface="Calibri"/>
              </a:rPr>
              <a:t>Synthetic example — not real study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00400"/>
            <a:ext cx="2926080" cy="38100"/>
          </a:xfrm>
          <a:prstGeom prst="rect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0"/>
            <a:ext cx="10515600" cy="68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Experimental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2377440" cy="38100"/>
          </a:xfrm>
          <a:prstGeom prst="rect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0" y="61264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5E63"/>
                </a:solidFill>
                <a:latin typeface="Calibri"/>
              </a:rPr>
              <a:t>Experimental design (editable — each box moves)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70432"/>
            <a:ext cx="2011680" cy="27940"/>
          </a:xfrm>
          <a:prstGeom prst="rect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554480" cy="11658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55E63"/>
                </a:solidFill>
                <a:latin typeface="Calibri"/>
              </a:rPr>
              <a:t>Material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1783080"/>
            <a:ext cx="2773680" cy="708660"/>
          </a:xfrm>
          <a:prstGeom prst="roundRect">
            <a:avLst/>
          </a:prstGeom>
          <a:solidFill>
            <a:srgbClr val="F1F7F7"/>
          </a:solidFill>
          <a:ln w="1905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0262A"/>
                </a:solidFill>
                <a:latin typeface="Calibri"/>
              </a:rPr>
              <a:t>Fresh blueberries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105400" y="2009394"/>
            <a:ext cx="365760" cy="256032"/>
          </a:xfrm>
          <a:prstGeom prst="rightArrow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16880" y="1783080"/>
            <a:ext cx="2773680" cy="708660"/>
          </a:xfrm>
          <a:prstGeom prst="roundRect">
            <a:avLst/>
          </a:prstGeom>
          <a:solidFill>
            <a:srgbClr val="F1F7F7"/>
          </a:solidFill>
          <a:ln w="1905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0262A"/>
                </a:solidFill>
                <a:latin typeface="Calibri"/>
              </a:rPr>
              <a:t>Wash &amp; sort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36280" y="2009394"/>
            <a:ext cx="365760" cy="256032"/>
          </a:xfrm>
          <a:prstGeom prst="rightArrow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47760" y="1783080"/>
            <a:ext cx="2773680" cy="708660"/>
          </a:xfrm>
          <a:prstGeom prst="roundRect">
            <a:avLst/>
          </a:prstGeom>
          <a:solidFill>
            <a:srgbClr val="F1F7F7"/>
          </a:solidFill>
          <a:ln w="1905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0262A"/>
                </a:solidFill>
                <a:latin typeface="Calibri"/>
              </a:rPr>
              <a:t>Vacuum pack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43600" y="2427732"/>
            <a:ext cx="310896" cy="274320"/>
          </a:xfrm>
          <a:prstGeom prst="downArrow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20340"/>
            <a:ext cx="1554480" cy="11658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55E63"/>
                </a:solidFill>
                <a:latin typeface="Calibri"/>
              </a:rPr>
              <a:t>Treatment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2948940"/>
            <a:ext cx="2773680" cy="708660"/>
          </a:xfrm>
          <a:prstGeom prst="roundRect">
            <a:avLst/>
          </a:prstGeom>
          <a:solidFill>
            <a:srgbClr val="F1F7F7"/>
          </a:solidFill>
          <a:ln w="1905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0262A"/>
                </a:solidFill>
                <a:latin typeface="Calibri"/>
              </a:rPr>
              <a:t>Control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05400" y="3175254"/>
            <a:ext cx="365760" cy="256032"/>
          </a:xfrm>
          <a:prstGeom prst="rightArrow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16880" y="2948940"/>
            <a:ext cx="2773680" cy="708660"/>
          </a:xfrm>
          <a:prstGeom prst="roundRect">
            <a:avLst/>
          </a:prstGeom>
          <a:solidFill>
            <a:srgbClr val="F1F7F7"/>
          </a:solidFill>
          <a:ln w="1905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0262A"/>
                </a:solidFill>
                <a:latin typeface="Calibri"/>
              </a:rPr>
              <a:t>HPP 400 MPa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36280" y="3175254"/>
            <a:ext cx="365760" cy="256032"/>
          </a:xfrm>
          <a:prstGeom prst="rightArrow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747760" y="2948940"/>
            <a:ext cx="2773680" cy="708660"/>
          </a:xfrm>
          <a:prstGeom prst="roundRect">
            <a:avLst/>
          </a:prstGeom>
          <a:solidFill>
            <a:srgbClr val="F1F7F7"/>
          </a:solidFill>
          <a:ln w="1905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0262A"/>
                </a:solidFill>
                <a:latin typeface="Calibri"/>
              </a:rPr>
              <a:t>HPP 600 MPa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43600" y="3593592"/>
            <a:ext cx="310896" cy="274320"/>
          </a:xfrm>
          <a:prstGeom prst="downArrow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86200"/>
            <a:ext cx="1554480" cy="11658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55E63"/>
                </a:solidFill>
                <a:latin typeface="Calibri"/>
              </a:rPr>
              <a:t>Assays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4114800"/>
            <a:ext cx="1965960" cy="708660"/>
          </a:xfrm>
          <a:prstGeom prst="roundRect">
            <a:avLst/>
          </a:prstGeom>
          <a:solidFill>
            <a:srgbClr val="F1F7F7"/>
          </a:solidFill>
          <a:ln w="1905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0262A"/>
                </a:solidFill>
                <a:latin typeface="Calibri"/>
              </a:rPr>
              <a:t>Firmness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297680" y="4341114"/>
            <a:ext cx="365760" cy="256032"/>
          </a:xfrm>
          <a:prstGeom prst="rightArrow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09160" y="4114800"/>
            <a:ext cx="1965960" cy="708660"/>
          </a:xfrm>
          <a:prstGeom prst="roundRect">
            <a:avLst/>
          </a:prstGeom>
          <a:solidFill>
            <a:srgbClr val="F1F7F7"/>
          </a:solidFill>
          <a:ln w="1905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0262A"/>
                </a:solidFill>
                <a:latin typeface="Calibri"/>
              </a:rPr>
              <a:t>Anthocyanins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720840" y="4341114"/>
            <a:ext cx="365760" cy="256032"/>
          </a:xfrm>
          <a:prstGeom prst="rightArrow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132320" y="4114800"/>
            <a:ext cx="1965960" cy="708660"/>
          </a:xfrm>
          <a:prstGeom prst="roundRect">
            <a:avLst/>
          </a:prstGeom>
          <a:solidFill>
            <a:srgbClr val="F1F7F7"/>
          </a:solidFill>
          <a:ln w="1905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0262A"/>
                </a:solidFill>
                <a:latin typeface="Calibri"/>
              </a:rPr>
              <a:t>Microbial load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44000" y="4341114"/>
            <a:ext cx="365760" cy="256032"/>
          </a:xfrm>
          <a:prstGeom prst="rightArrow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5480" y="4114800"/>
            <a:ext cx="1965960" cy="708660"/>
          </a:xfrm>
          <a:prstGeom prst="roundRect">
            <a:avLst/>
          </a:prstGeom>
          <a:solidFill>
            <a:srgbClr val="F1F7F7"/>
          </a:solidFill>
          <a:ln w="1905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0262A"/>
                </a:solidFill>
                <a:latin typeface="Calibri"/>
              </a:rPr>
              <a:t>Sensory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5943600" y="4759452"/>
            <a:ext cx="310896" cy="274320"/>
          </a:xfrm>
          <a:prstGeom prst="downArrow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052060"/>
            <a:ext cx="1554480" cy="11658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55E63"/>
                </a:solidFill>
                <a:latin typeface="Calibri"/>
              </a:rPr>
              <a:t>Analysis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86000" y="5280660"/>
            <a:ext cx="4389120" cy="708660"/>
          </a:xfrm>
          <a:prstGeom prst="roundRect">
            <a:avLst/>
          </a:prstGeom>
          <a:solidFill>
            <a:srgbClr val="F1F7F7"/>
          </a:solidFill>
          <a:ln w="1905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0262A"/>
                </a:solidFill>
                <a:latin typeface="Calibri"/>
              </a:rPr>
              <a:t>Two-way ANOVA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720840" y="5506974"/>
            <a:ext cx="365760" cy="256032"/>
          </a:xfrm>
          <a:prstGeom prst="rightArrow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132320" y="5280660"/>
            <a:ext cx="4389120" cy="708660"/>
          </a:xfrm>
          <a:prstGeom prst="roundRect">
            <a:avLst/>
          </a:prstGeom>
          <a:solidFill>
            <a:srgbClr val="F1F7F7"/>
          </a:solidFill>
          <a:ln w="1905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10262A"/>
                </a:solidFill>
                <a:latin typeface="Calibri"/>
              </a:rPr>
              <a:t>PCA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419088"/>
            <a:ext cx="10908792" cy="11430"/>
          </a:xfrm>
          <a:prstGeom prst="rect">
            <a:avLst/>
          </a:prstGeom>
          <a:solidFill>
            <a:srgbClr val="E8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5566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1636A"/>
                </a:solidFill>
                <a:latin typeface="Calibri"/>
              </a:rPr>
              <a:t>food-ppt demo · synthetic 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5566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1636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5E63"/>
                </a:solidFill>
                <a:latin typeface="Calibri"/>
              </a:rPr>
              <a:t>HPP retained firmness and cut weight loss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70432"/>
            <a:ext cx="2011680" cy="27940"/>
          </a:xfrm>
          <a:prstGeom prst="rect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6766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Treatment</a:t>
                      </a:r>
                    </a:p>
                  </a:txBody>
                  <a:tcPr>
                    <a:solidFill>
                      <a:srgbClr val="155E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Firmness (N)</a:t>
                      </a:r>
                    </a:p>
                  </a:txBody>
                  <a:tcPr>
                    <a:solidFill>
                      <a:srgbClr val="155E6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Weight loss (%)</a:t>
                      </a:r>
                    </a:p>
                  </a:txBody>
                  <a:tcPr>
                    <a:solidFill>
                      <a:srgbClr val="155E6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262A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F1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262A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>
                    <a:solidFill>
                      <a:srgbClr val="F1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262A"/>
                          </a:solidFill>
                          <a:latin typeface="Calibri"/>
                        </a:rPr>
                        <a:t>31.4</a:t>
                      </a:r>
                    </a:p>
                  </a:txBody>
                  <a:tcPr>
                    <a:solidFill>
                      <a:srgbClr val="F1F7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262A"/>
                          </a:solidFill>
                          <a:latin typeface="Calibri"/>
                        </a:rPr>
                        <a:t>HPP 400 MPa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262A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262A"/>
                          </a:solidFill>
                          <a:latin typeface="Calibri"/>
                        </a:rPr>
                        <a:t>12.0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262A"/>
                          </a:solidFill>
                          <a:latin typeface="Calibri"/>
                        </a:rPr>
                        <a:t>HPP 600 MPa</a:t>
                      </a:r>
                    </a:p>
                  </a:txBody>
                  <a:tcPr>
                    <a:solidFill>
                      <a:srgbClr val="F1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262A"/>
                          </a:solidFill>
                          <a:latin typeface="Calibri"/>
                        </a:rPr>
                        <a:t>4.2</a:t>
                      </a:r>
                    </a:p>
                  </a:txBody>
                  <a:tcPr>
                    <a:solidFill>
                      <a:srgbClr val="F1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262A"/>
                          </a:solidFill>
                          <a:latin typeface="Calibri"/>
                        </a:rPr>
                        <a:t>8.1</a:t>
                      </a:r>
                    </a:p>
                  </a:txBody>
                  <a:tcPr>
                    <a:solidFill>
                      <a:srgbClr val="F1F7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94360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1636A"/>
                </a:solidFill>
                <a:latin typeface="Calibri"/>
              </a:rPr>
              <a:t>Table 1. Firmness and weight loss by treatment (synthetic data).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600200"/>
            <a:ext cx="3749039" cy="4526280"/>
          </a:xfrm>
          <a:prstGeom prst="rect">
            <a:avLst/>
          </a:prstGeom>
          <a:solidFill>
            <a:srgbClr val="F1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1600200"/>
            <a:ext cx="3749039" cy="457200"/>
          </a:xfrm>
          <a:prstGeom prst="rect">
            <a:avLst/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645920"/>
            <a:ext cx="3474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148840"/>
            <a:ext cx="3429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55E63"/>
                </a:solidFill>
                <a:latin typeface="Calibri"/>
              </a:rPr>
              <a:t>▪  </a:t>
            </a:r>
            <a:r>
              <a:rPr sz="1300">
                <a:solidFill>
                  <a:srgbClr val="10262A"/>
                </a:solidFill>
                <a:latin typeface="Calibri"/>
              </a:rPr>
              <a:t>600 MPa retained firmness best (4.2 N)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55E63"/>
                </a:solidFill>
                <a:latin typeface="Calibri"/>
              </a:rPr>
              <a:t>▪  </a:t>
            </a:r>
            <a:r>
              <a:rPr sz="1300">
                <a:solidFill>
                  <a:srgbClr val="10262A"/>
                </a:solidFill>
                <a:latin typeface="Calibri"/>
              </a:rPr>
              <a:t>Weight loss cut ~23 points vs control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55E63"/>
                </a:solidFill>
                <a:latin typeface="Calibri"/>
              </a:rPr>
              <a:t>▪  </a:t>
            </a:r>
            <a:r>
              <a:rPr sz="1300">
                <a:solidFill>
                  <a:srgbClr val="10262A"/>
                </a:solidFill>
                <a:latin typeface="Calibri"/>
              </a:rPr>
              <a:t>Effects significant (illustrative p &lt; 0.05)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19088"/>
            <a:ext cx="10908792" cy="11430"/>
          </a:xfrm>
          <a:prstGeom prst="rect">
            <a:avLst/>
          </a:prstGeom>
          <a:solidFill>
            <a:srgbClr val="E8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1636A"/>
                </a:solidFill>
                <a:latin typeface="Calibri"/>
              </a:rPr>
              <a:t>food-ppt demo · synthetic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5566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1636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5E63"/>
                </a:solidFill>
                <a:latin typeface="Calibri"/>
              </a:rPr>
              <a:t>Anthocyanins stable through storage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70432"/>
            <a:ext cx="2011680" cy="27940"/>
          </a:xfrm>
          <a:prstGeom prst="rect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6583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1636A"/>
                </a:solidFill>
                <a:latin typeface="Calibri"/>
              </a:rPr>
              <a:t>[figure not found: does-not-exist.png]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1636A"/>
                </a:solidFill>
                <a:latin typeface="Calibri"/>
              </a:rPr>
              <a:t>Figure 1. Anthocyanin retention over storage (placeholder — in real use, a food-figure plot).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1600200"/>
            <a:ext cx="3749039" cy="4526280"/>
          </a:xfrm>
          <a:prstGeom prst="rect">
            <a:avLst/>
          </a:prstGeom>
          <a:solidFill>
            <a:srgbClr val="F1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1600200"/>
            <a:ext cx="3749039" cy="457200"/>
          </a:xfrm>
          <a:prstGeom prst="rect">
            <a:avLst/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645920"/>
            <a:ext cx="3474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148840"/>
            <a:ext cx="3429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155E63"/>
                </a:solidFill>
                <a:latin typeface="Calibri"/>
              </a:rPr>
              <a:t>▪  </a:t>
            </a:r>
            <a:r>
              <a:rPr sz="1300">
                <a:solidFill>
                  <a:srgbClr val="10262A"/>
                </a:solidFill>
                <a:latin typeface="Calibri"/>
              </a:rPr>
              <a:t>Anthocyanin retention &gt; 85% to day 21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55E63"/>
                </a:solidFill>
                <a:latin typeface="Calibri"/>
              </a:rPr>
              <a:t>▪  </a:t>
            </a:r>
            <a:r>
              <a:rPr sz="1300">
                <a:solidFill>
                  <a:srgbClr val="10262A"/>
                </a:solidFill>
                <a:latin typeface="Calibri"/>
              </a:rPr>
              <a:t>No treatment-by-time interaction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155E63"/>
                </a:solidFill>
                <a:latin typeface="Calibri"/>
              </a:rPr>
              <a:t>▪  </a:t>
            </a:r>
            <a:r>
              <a:rPr sz="1300">
                <a:solidFill>
                  <a:srgbClr val="10262A"/>
                </a:solidFill>
                <a:latin typeface="Calibri"/>
              </a:rPr>
              <a:t>600 MPa comparable to control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19088"/>
            <a:ext cx="10908792" cy="11430"/>
          </a:xfrm>
          <a:prstGeom prst="rect">
            <a:avLst/>
          </a:prstGeom>
          <a:solidFill>
            <a:srgbClr val="E8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1636A"/>
                </a:solidFill>
                <a:latin typeface="Calibri"/>
              </a:rPr>
              <a:t>food-ppt demo · synthetic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5566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1636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5E63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70432"/>
            <a:ext cx="2011680" cy="27940"/>
          </a:xfrm>
          <a:prstGeom prst="rect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155E63"/>
                </a:solidFill>
                <a:latin typeface="Calibri"/>
              </a:rPr>
              <a:t>▪  </a:t>
            </a:r>
            <a:r>
              <a:rPr sz="1800">
                <a:solidFill>
                  <a:srgbClr val="10262A"/>
                </a:solidFill>
                <a:latin typeface="Calibri"/>
              </a:rPr>
              <a:t>HPP preserved firmness and reduced weight loss vs control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155E63"/>
                </a:solidFill>
                <a:latin typeface="Calibri"/>
              </a:rPr>
              <a:t>▪  </a:t>
            </a:r>
            <a:r>
              <a:rPr sz="1800">
                <a:solidFill>
                  <a:srgbClr val="10262A"/>
                </a:solidFill>
                <a:latin typeface="Calibri"/>
              </a:rPr>
              <a:t>600 MPa was the best-performing condition overall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155E63"/>
                </a:solidFill>
                <a:latin typeface="Calibri"/>
              </a:rPr>
              <a:t>▪  </a:t>
            </a:r>
            <a:r>
              <a:rPr sz="1800">
                <a:solidFill>
                  <a:srgbClr val="10262A"/>
                </a:solidFill>
                <a:latin typeface="Calibri"/>
              </a:rPr>
              <a:t>Anthocyanins remained stable through 21-day storage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155E63"/>
                </a:solidFill>
                <a:latin typeface="Calibri"/>
              </a:rPr>
              <a:t>▪  </a:t>
            </a:r>
            <a:r>
              <a:rPr sz="1800">
                <a:solidFill>
                  <a:srgbClr val="10262A"/>
                </a:solidFill>
                <a:latin typeface="Calibri"/>
              </a:rPr>
              <a:t>Illustrative demo — all figures/numbers are synthetic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19088"/>
            <a:ext cx="10908792" cy="11430"/>
          </a:xfrm>
          <a:prstGeom prst="rect">
            <a:avLst/>
          </a:prstGeom>
          <a:solidFill>
            <a:srgbClr val="E8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5566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1636A"/>
                </a:solidFill>
                <a:latin typeface="Calibri"/>
              </a:rPr>
              <a:t>food-ppt demo · synthetic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5566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1636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0"/>
            <a:ext cx="10515600" cy="68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AI-use disclosure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2377440" cy="38100"/>
          </a:xfrm>
          <a:prstGeom prst="rect">
            <a:avLst/>
          </a:prstGeom>
          <a:solidFill>
            <a:srgbClr val="3FA7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0" y="61264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