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exists to show food-ppt's paper-style layouts: an editable experimental-design flow, results slides (figure/table + key findings), and an executive summary. All numbers are synthetic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'cards' slide (accent-bar metric cards) gives the audience the design's key parameters at a glance before the detailed flow. Synthetic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with the design before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Rendered as native PowerPoint shapes — every box and arrow is individually movable and editable. Built from food-figure's experimental-flow blueprint, theme-matched. Synthetic design for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result slide with a scientific-style native table plus a Key findings panel. Numbers are synthetic placeholders.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figure isn't supplied the builder shows a placeholder; in normal use figure_placer supplies a theme-matched food-figure plot. Synthetic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'metric' big-number hero for the single result the audience should remember. Synthetic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closing summary: headline results, meaning, and the key caveat (here, that the data are synthetic).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generated by the food-ppt skill as a layout demonstration; synthetic data. Replace with the venue's required AI statement for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256032"/>
            <a:ext cx="2221992" cy="6053328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66960" y="256032"/>
            <a:ext cx="38100" cy="6053328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8869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4600" b="1" spc="-50">
                <a:solidFill>
                  <a:srgbClr val="155E63"/>
                </a:solidFill>
                <a:latin typeface="Calibri"/>
              </a:rPr>
              <a:t>HPP and blueberry quality (illustrative)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0262A"/>
                </a:solidFill>
                <a:latin typeface="Calibri"/>
              </a:rPr>
              <a:t>Demonstrates the flow, result, and executive-summary layouts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51636A"/>
                </a:solidFill>
                <a:latin typeface="Calibri"/>
              </a:rPr>
              <a:t>Synthetic example — not real study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337560"/>
            <a:ext cx="2926080" cy="4445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55E63"/>
                </a:solidFill>
                <a:latin typeface="Calibri"/>
              </a:rPr>
              <a:t>Study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52800" cy="4434840"/>
          </a:xfrm>
          <a:prstGeom prst="roundRect">
            <a:avLst/>
          </a:prstGeom>
          <a:solidFill>
            <a:srgbClr val="F1F7F7"/>
          </a:solidFill>
          <a:ln w="12700">
            <a:solidFill>
              <a:srgbClr val="E8F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801368"/>
            <a:ext cx="3133344" cy="3810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984248"/>
            <a:ext cx="28407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spc="-50">
                <a:solidFill>
                  <a:srgbClr val="155E63"/>
                </a:solidFill>
                <a:latin typeface="Calibri"/>
              </a:rPr>
              <a:t>3 arms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0262A"/>
                </a:solidFill>
                <a:latin typeface="Calibri"/>
              </a:rPr>
              <a:t>Control, HPP 400 MPa, HPP 600 MPa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91640"/>
            <a:ext cx="3352800" cy="4434840"/>
          </a:xfrm>
          <a:prstGeom prst="roundRect">
            <a:avLst/>
          </a:prstGeom>
          <a:solidFill>
            <a:srgbClr val="F1F7F7"/>
          </a:solidFill>
          <a:ln w="12700">
            <a:solidFill>
              <a:srgbClr val="E8F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4088" y="1801368"/>
            <a:ext cx="3133344" cy="3810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0392" y="1984248"/>
            <a:ext cx="28407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spc="-50">
                <a:solidFill>
                  <a:srgbClr val="155E63"/>
                </a:solidFill>
                <a:latin typeface="Calibri"/>
              </a:rPr>
              <a:t>n = 90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0262A"/>
                </a:solidFill>
                <a:latin typeface="Calibri"/>
              </a:rPr>
              <a:t>30 punnets per arm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1691640"/>
            <a:ext cx="3352800" cy="4434840"/>
          </a:xfrm>
          <a:prstGeom prst="roundRect">
            <a:avLst/>
          </a:prstGeom>
          <a:solidFill>
            <a:srgbClr val="F1F7F7"/>
          </a:solidFill>
          <a:ln w="12700">
            <a:solidFill>
              <a:srgbClr val="E8F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6928" y="1801368"/>
            <a:ext cx="3133344" cy="3810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3232" y="1984248"/>
            <a:ext cx="284073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 spc="-50">
                <a:solidFill>
                  <a:srgbClr val="155E63"/>
                </a:solidFill>
                <a:latin typeface="Calibri"/>
              </a:rPr>
              <a:t>21 days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0262A"/>
                </a:solidFill>
                <a:latin typeface="Calibri"/>
              </a:rPr>
              <a:t>refrigerated storage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food-ppt demo · synthetic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502920" cy="146304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0"/>
            <a:ext cx="105156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4000" b="1" spc="-50">
                <a:solidFill>
                  <a:srgbClr val="FFFFFF"/>
                </a:solidFill>
                <a:latin typeface="Calibri"/>
              </a:rPr>
              <a:t>Experimental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377440" cy="4445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126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55E63"/>
                </a:solidFill>
                <a:latin typeface="Calibri"/>
              </a:rPr>
              <a:t>Experimental design (editable — each box moves)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554480" cy="1165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55E63"/>
                </a:solidFill>
                <a:latin typeface="Calibri"/>
              </a:rPr>
              <a:t>Material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783080"/>
            <a:ext cx="277368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Fresh blueberries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05400" y="2009394"/>
            <a:ext cx="365760" cy="256032"/>
          </a:xfrm>
          <a:prstGeom prst="right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16880" y="1783080"/>
            <a:ext cx="277368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Wash &amp; sort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336280" y="2009394"/>
            <a:ext cx="365760" cy="256032"/>
          </a:xfrm>
          <a:prstGeom prst="right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47760" y="1783080"/>
            <a:ext cx="277368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Vacuum pack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2427732"/>
            <a:ext cx="310896" cy="274320"/>
          </a:xfrm>
          <a:prstGeom prst="down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20340"/>
            <a:ext cx="1554480" cy="1165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55E63"/>
                </a:solidFill>
                <a:latin typeface="Calibri"/>
              </a:rPr>
              <a:t>Treatment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2948940"/>
            <a:ext cx="277368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Control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105400" y="3175254"/>
            <a:ext cx="365760" cy="256032"/>
          </a:xfrm>
          <a:prstGeom prst="right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16880" y="2948940"/>
            <a:ext cx="277368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HPP 400 MPa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36280" y="3175254"/>
            <a:ext cx="365760" cy="256032"/>
          </a:xfrm>
          <a:prstGeom prst="right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47760" y="2948940"/>
            <a:ext cx="277368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HPP 600 MPa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3593592"/>
            <a:ext cx="310896" cy="274320"/>
          </a:xfrm>
          <a:prstGeom prst="down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1554480" cy="1165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55E63"/>
                </a:solidFill>
                <a:latin typeface="Calibri"/>
              </a:rPr>
              <a:t>Assays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114800"/>
            <a:ext cx="196596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Firmness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97680" y="4341114"/>
            <a:ext cx="365760" cy="256032"/>
          </a:xfrm>
          <a:prstGeom prst="right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09160" y="4114800"/>
            <a:ext cx="196596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Anthocyanins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720840" y="4341114"/>
            <a:ext cx="365760" cy="256032"/>
          </a:xfrm>
          <a:prstGeom prst="right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20" y="4114800"/>
            <a:ext cx="196596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Microbial load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44000" y="4341114"/>
            <a:ext cx="365760" cy="256032"/>
          </a:xfrm>
          <a:prstGeom prst="right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55480" y="4114800"/>
            <a:ext cx="196596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Sensory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5943600" y="4759452"/>
            <a:ext cx="310896" cy="274320"/>
          </a:xfrm>
          <a:prstGeom prst="down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52060"/>
            <a:ext cx="1554480" cy="1165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55E63"/>
                </a:solidFill>
                <a:latin typeface="Calibri"/>
              </a:rPr>
              <a:t>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5280660"/>
            <a:ext cx="438912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Two-way ANOVA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720840" y="5506974"/>
            <a:ext cx="365760" cy="256032"/>
          </a:xfrm>
          <a:prstGeom prst="rightArrow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132320" y="5280660"/>
            <a:ext cx="4389120" cy="708660"/>
          </a:xfrm>
          <a:prstGeom prst="roundRect">
            <a:avLst/>
          </a:prstGeom>
          <a:solidFill>
            <a:srgbClr val="F1F7F7"/>
          </a:solidFill>
          <a:ln w="1905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0262A"/>
                </a:solidFill>
                <a:latin typeface="Calibri"/>
              </a:rPr>
              <a:t>PCA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food-ppt demo · synthetic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55E63"/>
                </a:solidFill>
                <a:latin typeface="Calibri"/>
              </a:rPr>
              <a:t>HPP retained firmness and cut weight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6766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>
                    <a:solidFill>
                      <a:srgbClr val="155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Firmness (N)</a:t>
                      </a:r>
                    </a:p>
                  </a:txBody>
                  <a:tcPr>
                    <a:solidFill>
                      <a:srgbClr val="155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Weight loss (%)</a:t>
                      </a:r>
                    </a:p>
                  </a:txBody>
                  <a:tcPr>
                    <a:solidFill>
                      <a:srgbClr val="155E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262A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262A"/>
                          </a:solidFill>
                          <a:latin typeface="Calibri"/>
                        </a:rPr>
                        <a:t>2.1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262A"/>
                          </a:solidFill>
                          <a:latin typeface="Calibri"/>
                        </a:rPr>
                        <a:t>31.4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262A"/>
                          </a:solidFill>
                          <a:latin typeface="Calibri"/>
                        </a:rPr>
                        <a:t>HPP 400 MPa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262A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262A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262A"/>
                          </a:solidFill>
                          <a:latin typeface="Calibri"/>
                        </a:rPr>
                        <a:t>HPP 600 MPa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262A"/>
                          </a:solidFill>
                          <a:latin typeface="Calibri"/>
                        </a:rPr>
                        <a:t>4.2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0262A"/>
                          </a:solidFill>
                          <a:latin typeface="Calibri"/>
                        </a:rPr>
                        <a:t>8.1</a:t>
                      </a:r>
                    </a:p>
                  </a:txBody>
                  <a:tcPr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436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1636A"/>
                </a:solidFill>
                <a:latin typeface="Calibri"/>
              </a:rPr>
              <a:t>Table 1. Firmness and weight loss by treatment (synthetic data).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600200"/>
            <a:ext cx="3749039" cy="4526280"/>
          </a:xfrm>
          <a:prstGeom prst="rect">
            <a:avLst/>
          </a:prstGeom>
          <a:solidFill>
            <a:srgbClr val="F1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600200"/>
            <a:ext cx="3749039" cy="4572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45920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148840"/>
            <a:ext cx="3429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55E63"/>
                </a:solidFill>
                <a:latin typeface="Calibri"/>
              </a:rPr>
              <a:t>▪  </a:t>
            </a:r>
            <a:r>
              <a:rPr sz="1300">
                <a:solidFill>
                  <a:srgbClr val="10262A"/>
                </a:solidFill>
                <a:latin typeface="Calibri"/>
              </a:rPr>
              <a:t>600 MPa retained firmness best (4.2 N)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55E63"/>
                </a:solidFill>
                <a:latin typeface="Calibri"/>
              </a:rPr>
              <a:t>▪  </a:t>
            </a:r>
            <a:r>
              <a:rPr sz="1300">
                <a:solidFill>
                  <a:srgbClr val="10262A"/>
                </a:solidFill>
                <a:latin typeface="Calibri"/>
              </a:rPr>
              <a:t>Weight loss cut ~23 points vs control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55E63"/>
                </a:solidFill>
                <a:latin typeface="Calibri"/>
              </a:rPr>
              <a:t>▪  </a:t>
            </a:r>
            <a:r>
              <a:rPr sz="1300">
                <a:solidFill>
                  <a:srgbClr val="10262A"/>
                </a:solidFill>
                <a:latin typeface="Calibri"/>
              </a:rPr>
              <a:t>Effects significant (illustrative p &lt; 0.05)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food-ppt demo · synthetic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55E63"/>
                </a:solidFill>
                <a:latin typeface="Calibri"/>
              </a:rPr>
              <a:t>Anthocyanins stable through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1636A"/>
                </a:solidFill>
                <a:latin typeface="Calibri"/>
              </a:rPr>
              <a:t>[figure not found: does-not-exist.png]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1636A"/>
                </a:solidFill>
                <a:latin typeface="Calibri"/>
              </a:rPr>
              <a:t>Figure 1. Anthocyanin retention over storage (placeholder — in real use, a food-figure plot).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600200"/>
            <a:ext cx="3749039" cy="4526280"/>
          </a:xfrm>
          <a:prstGeom prst="rect">
            <a:avLst/>
          </a:prstGeom>
          <a:solidFill>
            <a:srgbClr val="F1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600200"/>
            <a:ext cx="3749039" cy="4572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45920"/>
            <a:ext cx="34747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148840"/>
            <a:ext cx="3429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155E63"/>
                </a:solidFill>
                <a:latin typeface="Calibri"/>
              </a:rPr>
              <a:t>▪  </a:t>
            </a:r>
            <a:r>
              <a:rPr sz="1300">
                <a:solidFill>
                  <a:srgbClr val="10262A"/>
                </a:solidFill>
                <a:latin typeface="Calibri"/>
              </a:rPr>
              <a:t>Anthocyanin retention &gt; 85% to day 21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55E63"/>
                </a:solidFill>
                <a:latin typeface="Calibri"/>
              </a:rPr>
              <a:t>▪  </a:t>
            </a:r>
            <a:r>
              <a:rPr sz="1300">
                <a:solidFill>
                  <a:srgbClr val="10262A"/>
                </a:solidFill>
                <a:latin typeface="Calibri"/>
              </a:rPr>
              <a:t>No treatment-by-time interaction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155E63"/>
                </a:solidFill>
                <a:latin typeface="Calibri"/>
              </a:rPr>
              <a:t>▪  </a:t>
            </a:r>
            <a:r>
              <a:rPr sz="1300">
                <a:solidFill>
                  <a:srgbClr val="10262A"/>
                </a:solidFill>
                <a:latin typeface="Calibri"/>
              </a:rPr>
              <a:t>600 MPa comparable to control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food-ppt demo · synthetic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55E63"/>
                </a:solidFill>
                <a:latin typeface="Calibri"/>
              </a:rPr>
              <a:t>Headline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600" b="1" spc="-100">
                <a:solidFill>
                  <a:srgbClr val="155E63"/>
                </a:solidFill>
                <a:latin typeface="Calibri"/>
              </a:rPr>
              <a:t>-23 pts</a:t>
            </a:r>
          </a:p>
          <a:p>
            <a:pPr algn="ctr">
              <a:spcAft>
                <a:spcPts val="200"/>
              </a:spcAft>
            </a:pPr>
            <a:r>
              <a:rPr sz="2400" b="0">
                <a:solidFill>
                  <a:srgbClr val="10262A"/>
                </a:solidFill>
                <a:latin typeface="Calibri"/>
              </a:rPr>
              <a:t>weight loss vs control at 600 MPa</a:t>
            </a: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51636A"/>
                </a:solidFill>
                <a:latin typeface="Calibri"/>
              </a:rPr>
              <a:t>31.4% → 8.1% (illustrative p &lt; 0.05)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food-ppt demo · synthetic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155E63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70432"/>
            <a:ext cx="2011680" cy="2794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155E63"/>
                </a:solidFill>
                <a:latin typeface="Calibri"/>
              </a:rPr>
              <a:t>▪  </a:t>
            </a:r>
            <a:r>
              <a:rPr sz="1800">
                <a:solidFill>
                  <a:srgbClr val="10262A"/>
                </a:solidFill>
                <a:latin typeface="Calibri"/>
              </a:rPr>
              <a:t>HPP preserved firmness and reduced weight loss vs control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55E63"/>
                </a:solidFill>
                <a:latin typeface="Calibri"/>
              </a:rPr>
              <a:t>▪  </a:t>
            </a:r>
            <a:r>
              <a:rPr sz="1800">
                <a:solidFill>
                  <a:srgbClr val="10262A"/>
                </a:solidFill>
                <a:latin typeface="Calibri"/>
              </a:rPr>
              <a:t>600 MPa was the best-performing condition overall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55E63"/>
                </a:solidFill>
                <a:latin typeface="Calibri"/>
              </a:rPr>
              <a:t>▪  </a:t>
            </a:r>
            <a:r>
              <a:rPr sz="1800">
                <a:solidFill>
                  <a:srgbClr val="10262A"/>
                </a:solidFill>
                <a:latin typeface="Calibri"/>
              </a:rPr>
              <a:t>Anthocyanins remained stable through 21-day storage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155E63"/>
                </a:solidFill>
                <a:latin typeface="Calibri"/>
              </a:rPr>
              <a:t>▪  </a:t>
            </a:r>
            <a:r>
              <a:rPr sz="1800">
                <a:solidFill>
                  <a:srgbClr val="10262A"/>
                </a:solidFill>
                <a:latin typeface="Calibri"/>
              </a:rPr>
              <a:t>Illustrative demo — all figures/numbers are synthetic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419088"/>
            <a:ext cx="10908792" cy="11430"/>
          </a:xfrm>
          <a:prstGeom prst="rect">
            <a:avLst/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food-ppt demo · synthetic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5566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1636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502920" cy="146304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0"/>
            <a:ext cx="10515600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4000" b="1" spc="-50">
                <a:solidFill>
                  <a:srgbClr val="FFFFFF"/>
                </a:solidFill>
                <a:latin typeface="Calibri"/>
              </a:rPr>
              <a:t>AI-use disclosure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377440" cy="44450"/>
          </a:xfrm>
          <a:prstGeom prst="rect">
            <a:avLst/>
          </a:prstGeom>
          <a:solidFill>
            <a:srgbClr val="3FA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1264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